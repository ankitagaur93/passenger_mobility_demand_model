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96012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A311"/>
    <a:srgbClr val="14213D"/>
    <a:srgbClr val="FB6F92"/>
    <a:srgbClr val="2A9D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6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39073829660280435"/>
          <c:y val="3.0765578942654373E-2"/>
          <c:w val="0.55263366972358063"/>
          <c:h val="0.9384688421146912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Sheet2!$P$3</c:f>
              <c:strCache>
                <c:ptCount val="1"/>
                <c:pt idx="0">
                  <c:v>Large city</c:v>
                </c:pt>
              </c:strCache>
            </c:strRef>
          </c:tx>
          <c:spPr>
            <a:solidFill>
              <a:srgbClr val="2A9D8F"/>
            </a:solidFill>
            <a:ln>
              <a:noFill/>
            </a:ln>
            <a:effectLst/>
          </c:spPr>
          <c:invertIfNegative val="0"/>
          <c:val>
            <c:numRef>
              <c:f>Sheet2!$Q$3</c:f>
              <c:numCache>
                <c:formatCode>0</c:formatCode>
                <c:ptCount val="1"/>
                <c:pt idx="0">
                  <c:v>2.1642660167094299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9A-4C5A-8366-DADB86C6D098}"/>
            </c:ext>
          </c:extLst>
        </c:ser>
        <c:ser>
          <c:idx val="1"/>
          <c:order val="1"/>
          <c:tx>
            <c:strRef>
              <c:f>Sheet2!$P$4</c:f>
              <c:strCache>
                <c:ptCount val="1"/>
                <c:pt idx="0">
                  <c:v>City</c:v>
                </c:pt>
              </c:strCache>
            </c:strRef>
          </c:tx>
          <c:spPr>
            <a:solidFill>
              <a:srgbClr val="FB6F92"/>
            </a:solidFill>
            <a:ln>
              <a:noFill/>
            </a:ln>
            <a:effectLst/>
          </c:spPr>
          <c:invertIfNegative val="0"/>
          <c:val>
            <c:numRef>
              <c:f>Sheet2!$Q$4</c:f>
              <c:numCache>
                <c:formatCode>0</c:formatCode>
                <c:ptCount val="1"/>
                <c:pt idx="0">
                  <c:v>0.86701035756669298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69A-4C5A-8366-DADB86C6D098}"/>
            </c:ext>
          </c:extLst>
        </c:ser>
        <c:ser>
          <c:idx val="2"/>
          <c:order val="2"/>
          <c:tx>
            <c:strRef>
              <c:f>Sheet2!$P$5</c:f>
              <c:strCache>
                <c:ptCount val="1"/>
                <c:pt idx="0">
                  <c:v>Town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  <a:effectLst/>
          </c:spPr>
          <c:invertIfNegative val="0"/>
          <c:val>
            <c:numRef>
              <c:f>Sheet2!$Q$5</c:f>
              <c:numCache>
                <c:formatCode>0</c:formatCode>
                <c:ptCount val="1"/>
                <c:pt idx="0">
                  <c:v>0.86137070846454611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69A-4C5A-8366-DADB86C6D098}"/>
            </c:ext>
          </c:extLst>
        </c:ser>
        <c:ser>
          <c:idx val="3"/>
          <c:order val="3"/>
          <c:tx>
            <c:strRef>
              <c:f>Sheet2!$P$6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FCA311"/>
            </a:solidFill>
            <a:ln>
              <a:noFill/>
            </a:ln>
            <a:effectLst/>
          </c:spPr>
          <c:invertIfNegative val="0"/>
          <c:val>
            <c:numRef>
              <c:f>Sheet2!$Q$6</c:f>
              <c:numCache>
                <c:formatCode>0</c:formatCode>
                <c:ptCount val="1"/>
                <c:pt idx="0">
                  <c:v>4.8537468887596393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69A-4C5A-8366-DADB86C6D0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03469967"/>
        <c:axId val="1203466607"/>
      </c:barChart>
      <c:catAx>
        <c:axId val="120346996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203466607"/>
        <c:crosses val="autoZero"/>
        <c:auto val="1"/>
        <c:lblAlgn val="ctr"/>
        <c:lblOffset val="100"/>
        <c:noMultiLvlLbl val="0"/>
      </c:catAx>
      <c:valAx>
        <c:axId val="1203466607"/>
        <c:scaling>
          <c:orientation val="minMax"/>
          <c:max val="2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2000" dirty="0"/>
                  <a:t>Passenger</a:t>
                </a:r>
                <a:r>
                  <a:rPr lang="en-US" sz="2000" baseline="0" dirty="0"/>
                  <a:t> Kilometers (in trillion)</a:t>
                </a:r>
                <a:endParaRPr lang="en-US" sz="2000" dirty="0"/>
              </a:p>
            </c:rich>
          </c:tx>
          <c:layout>
            <c:manualLayout>
              <c:xMode val="edge"/>
              <c:yMode val="edge"/>
              <c:x val="4.1184024489901806E-2"/>
              <c:y val="0.24602604231856262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03469967"/>
        <c:crosses val="autoZero"/>
        <c:crossBetween val="between"/>
      </c:valAx>
      <c:spPr>
        <a:noFill/>
        <a:ln>
          <a:solidFill>
            <a:schemeClr val="bg2">
              <a:lumMod val="90000"/>
            </a:schemeClr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600">
          <a:solidFill>
            <a:schemeClr val="tx1"/>
          </a:solidFill>
        </a:defRPr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Sheet2!$J$3</c:f>
              <c:strCache>
                <c:ptCount val="1"/>
                <c:pt idx="0">
                  <c:v>Rural</c:v>
                </c:pt>
              </c:strCache>
            </c:strRef>
          </c:tx>
          <c:spPr>
            <a:solidFill>
              <a:srgbClr val="2A9D8F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Sheet2!$K$3:$O$3</c:f>
              <c:numCache>
                <c:formatCode>0</c:formatCode>
                <c:ptCount val="5"/>
                <c:pt idx="0">
                  <c:v>7.2245669369743402</c:v>
                </c:pt>
                <c:pt idx="1">
                  <c:v>7.5474738866909696</c:v>
                </c:pt>
                <c:pt idx="2">
                  <c:v>7.5477987919968701</c:v>
                </c:pt>
                <c:pt idx="3">
                  <c:v>6.79446028594539</c:v>
                </c:pt>
                <c:pt idx="4">
                  <c:v>7.5474738866909696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2C-49CB-9957-C730F0A4D426}"/>
            </c:ext>
          </c:extLst>
        </c:ser>
        <c:ser>
          <c:idx val="1"/>
          <c:order val="1"/>
          <c:tx>
            <c:strRef>
              <c:f>Sheet2!$J$4</c:f>
              <c:strCache>
                <c:ptCount val="1"/>
                <c:pt idx="0">
                  <c:v>Town</c:v>
                </c:pt>
              </c:strCache>
            </c:strRef>
          </c:tx>
          <c:spPr>
            <a:solidFill>
              <a:srgbClr val="FB6F92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Sheet2!$K$4:$O$4</c:f>
              <c:numCache>
                <c:formatCode>0</c:formatCode>
                <c:ptCount val="5"/>
                <c:pt idx="0">
                  <c:v>2.7616630586217399</c:v>
                </c:pt>
                <c:pt idx="1">
                  <c:v>2.8538400888033997</c:v>
                </c:pt>
                <c:pt idx="2">
                  <c:v>2.8554650489228801</c:v>
                </c:pt>
                <c:pt idx="3">
                  <c:v>2.6365656443771703</c:v>
                </c:pt>
                <c:pt idx="4">
                  <c:v>2.4423920536495096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F2C-49CB-9957-C730F0A4D426}"/>
            </c:ext>
          </c:extLst>
        </c:ser>
        <c:ser>
          <c:idx val="2"/>
          <c:order val="2"/>
          <c:tx>
            <c:strRef>
              <c:f>Sheet2!$J$5</c:f>
              <c:strCache>
                <c:ptCount val="1"/>
                <c:pt idx="0">
                  <c:v>City</c:v>
                </c:pt>
              </c:strCache>
            </c:strRef>
          </c:tx>
          <c:spPr>
            <a:solidFill>
              <a:srgbClr val="14213D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Sheet2!$K$5:$O$5</c:f>
              <c:numCache>
                <c:formatCode>0</c:formatCode>
                <c:ptCount val="5"/>
                <c:pt idx="0">
                  <c:v>2.84624484626011</c:v>
                </c:pt>
                <c:pt idx="1">
                  <c:v>2.8455047250692997</c:v>
                </c:pt>
                <c:pt idx="2">
                  <c:v>2.84932463714734</c:v>
                </c:pt>
                <c:pt idx="3">
                  <c:v>2.8032235536368897</c:v>
                </c:pt>
                <c:pt idx="4">
                  <c:v>2.5184601474196597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F2C-49CB-9957-C730F0A4D426}"/>
            </c:ext>
          </c:extLst>
        </c:ser>
        <c:ser>
          <c:idx val="3"/>
          <c:order val="3"/>
          <c:tx>
            <c:strRef>
              <c:f>Sheet2!$J$6</c:f>
              <c:strCache>
                <c:ptCount val="1"/>
                <c:pt idx="0">
                  <c:v>Large city</c:v>
                </c:pt>
              </c:strCache>
            </c:strRef>
          </c:tx>
          <c:spPr>
            <a:solidFill>
              <a:srgbClr val="FCA311"/>
            </a:solidFill>
            <a:ln>
              <a:noFill/>
            </a:ln>
            <a:effectLst/>
          </c:spPr>
          <c:invertIfNegative val="0"/>
          <c:cat>
            <c:strRef>
              <c:f>Sheet2!$K$2:$O$2</c:f>
              <c:strCache>
                <c:ptCount val="5"/>
                <c:pt idx="0">
                  <c:v>Base</c:v>
                </c:pt>
                <c:pt idx="1">
                  <c:v>NP</c:v>
                </c:pt>
                <c:pt idx="2">
                  <c:v>BP</c:v>
                </c:pt>
                <c:pt idx="3">
                  <c:v>TECH</c:v>
                </c:pt>
                <c:pt idx="4">
                  <c:v>TOD</c:v>
                </c:pt>
              </c:strCache>
            </c:strRef>
          </c:cat>
          <c:val>
            <c:numRef>
              <c:f>Sheet2!$K$6:$O$6</c:f>
              <c:numCache>
                <c:formatCode>0</c:formatCode>
                <c:ptCount val="5"/>
                <c:pt idx="0">
                  <c:v>9.3251717390158699</c:v>
                </c:pt>
                <c:pt idx="1">
                  <c:v>9.701098533073111</c:v>
                </c:pt>
                <c:pt idx="2">
                  <c:v>9.7419372161946587</c:v>
                </c:pt>
                <c:pt idx="3">
                  <c:v>10.1678654851573</c:v>
                </c:pt>
                <c:pt idx="4">
                  <c:v>8.8931600978902008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F2C-49CB-9957-C730F0A4D4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215868383"/>
        <c:axId val="1215866463"/>
      </c:barChart>
      <c:catAx>
        <c:axId val="121586838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15866463"/>
        <c:crosses val="autoZero"/>
        <c:auto val="1"/>
        <c:lblAlgn val="ctr"/>
        <c:lblOffset val="100"/>
        <c:noMultiLvlLbl val="0"/>
      </c:catAx>
      <c:valAx>
        <c:axId val="12158664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crossAx val="1215868383"/>
        <c:crosses val="autoZero"/>
        <c:crossBetween val="between"/>
      </c:valAx>
      <c:spPr>
        <a:noFill/>
        <a:ln>
          <a:solidFill>
            <a:schemeClr val="bg1">
              <a:lumMod val="75000"/>
            </a:schemeClr>
          </a:solidFill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18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lang="en-US" sz="1800" b="0" i="0" u="none" strike="noStrike" kern="1200" baseline="0">
          <a:solidFill>
            <a:schemeClr val="tx1"/>
          </a:solidFill>
          <a:latin typeface="+mn-lt"/>
          <a:ea typeface="+mn-ea"/>
          <a:cs typeface="+mn-cs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1</cdr:x>
      <cdr:y>0.97134</cdr:y>
    </cdr:from>
    <cdr:to>
      <cdr:x>1</cdr:x>
      <cdr:y>0.97134</cdr:y>
    </cdr:to>
    <cdr:cxnSp macro="">
      <cdr:nvCxnSpPr>
        <cdr:cNvPr id="3" name="Straight Connector 2">
          <a:extLst xmlns:a="http://schemas.openxmlformats.org/drawingml/2006/main">
            <a:ext uri="{FF2B5EF4-FFF2-40B4-BE49-F238E27FC236}">
              <a16:creationId xmlns:a16="http://schemas.microsoft.com/office/drawing/2014/main" id="{5B3341F1-06CA-9A2F-9912-655EF4F48E09}"/>
            </a:ext>
          </a:extLst>
        </cdr:cNvPr>
        <cdr:cNvCxnSpPr/>
      </cdr:nvCxnSpPr>
      <cdr:spPr>
        <a:xfrm xmlns:a="http://schemas.openxmlformats.org/drawingml/2006/main" flipH="1">
          <a:off x="2466976" y="5810252"/>
          <a:ext cx="0" cy="0"/>
        </a:xfrm>
        <a:prstGeom xmlns:a="http://schemas.openxmlformats.org/drawingml/2006/main" prst="line">
          <a:avLst/>
        </a:prstGeom>
      </cdr:spPr>
      <cdr:style>
        <a:lnRef xmlns:a="http://schemas.openxmlformats.org/drawingml/2006/main" idx="2">
          <a:schemeClr val="accent1"/>
        </a:lnRef>
        <a:fillRef xmlns:a="http://schemas.openxmlformats.org/drawingml/2006/main" idx="0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tx1"/>
        </a:fontRef>
      </cdr:style>
    </cdr:cxnSp>
  </cdr:relSizeAnchor>
</c:userShap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1122363"/>
            <a:ext cx="816102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3602038"/>
            <a:ext cx="72009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96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731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709740"/>
            <a:ext cx="828103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4589465"/>
            <a:ext cx="828103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686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825625"/>
            <a:ext cx="408051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825625"/>
            <a:ext cx="408051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42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127"/>
            <a:ext cx="828103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681163"/>
            <a:ext cx="406175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2505075"/>
            <a:ext cx="406175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1681163"/>
            <a:ext cx="408176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2505075"/>
            <a:ext cx="40817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0770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84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886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457200"/>
            <a:ext cx="30966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987427"/>
            <a:ext cx="486060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2057400"/>
            <a:ext cx="30966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324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457200"/>
            <a:ext cx="30966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987427"/>
            <a:ext cx="4860608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2057400"/>
            <a:ext cx="30966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3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365125"/>
            <a:ext cx="2070259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365125"/>
            <a:ext cx="6090761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4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365127"/>
            <a:ext cx="828103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825625"/>
            <a:ext cx="828103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6356352"/>
            <a:ext cx="2160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7BC024-965C-433A-8DF9-BDEEB9D07142}" type="datetimeFigureOut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6356352"/>
            <a:ext cx="3240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6356352"/>
            <a:ext cx="21602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B6813-A2EC-496E-8CF7-F9A353B4EA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01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10F1B53-35B3-A594-2441-5507AA67C9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5099279"/>
              </p:ext>
            </p:extLst>
          </p:nvPr>
        </p:nvGraphicFramePr>
        <p:xfrm>
          <a:off x="180975" y="-2"/>
          <a:ext cx="2466976" cy="59817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9AD2FD3-21A0-967A-154E-44507529B20B}"/>
              </a:ext>
            </a:extLst>
          </p:cNvPr>
          <p:cNvSpPr txBox="1"/>
          <p:nvPr/>
        </p:nvSpPr>
        <p:spPr>
          <a:xfrm>
            <a:off x="1104904" y="6372229"/>
            <a:ext cx="1543051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2011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D29369-15DF-133B-A704-552C4BDE3602}"/>
              </a:ext>
            </a:extLst>
          </p:cNvPr>
          <p:cNvSpPr txBox="1"/>
          <p:nvPr/>
        </p:nvSpPr>
        <p:spPr>
          <a:xfrm>
            <a:off x="3267079" y="6372229"/>
            <a:ext cx="4886325" cy="4616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2050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97ABA19E-5B52-7288-2CA3-F8B7DA8C2A2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6127958"/>
              </p:ext>
            </p:extLst>
          </p:nvPr>
        </p:nvGraphicFramePr>
        <p:xfrm>
          <a:off x="2800350" y="-2"/>
          <a:ext cx="6800850" cy="62865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30197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</TotalTime>
  <Words>8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Gaur, Ankita Singh</dc:creator>
  <cp:lastModifiedBy>Gaur, Ankita Singh</cp:lastModifiedBy>
  <cp:revision>2</cp:revision>
  <dcterms:created xsi:type="dcterms:W3CDTF">2025-08-20T03:23:47Z</dcterms:created>
  <dcterms:modified xsi:type="dcterms:W3CDTF">2025-08-24T01:02:17Z</dcterms:modified>
</cp:coreProperties>
</file>